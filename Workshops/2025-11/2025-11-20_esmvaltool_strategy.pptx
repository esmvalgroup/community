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02" r:id="rId3"/>
    <p:sldId id="258" r:id="rId4"/>
    <p:sldId id="259" r:id="rId5"/>
    <p:sldId id="261" r:id="rId6"/>
    <p:sldId id="260" r:id="rId7"/>
    <p:sldId id="505" r:id="rId8"/>
    <p:sldId id="5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9B5C6-0486-41F9-AA2D-2778F284A26B}" v="65" dt="2025-11-19T17:13:2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tair Sellar" userId="S::alistair.sellar@metoffice.gov.uk::388bc33d-aba4-4717-b205-7fe414dcbcb4" providerId="AD" clId="Web-{205D5CE5-DCDB-8D36-AE37-EB438E06C088}"/>
    <pc:docChg chg="modSld">
      <pc:chgData name="Alistair Sellar" userId="S::alistair.sellar@metoffice.gov.uk::388bc33d-aba4-4717-b205-7fe414dcbcb4" providerId="AD" clId="Web-{205D5CE5-DCDB-8D36-AE37-EB438E06C088}" dt="2025-11-14T12:08:55.162" v="27" actId="20577"/>
      <pc:docMkLst>
        <pc:docMk/>
      </pc:docMkLst>
      <pc:sldChg chg="modSp">
        <pc:chgData name="Alistair Sellar" userId="S::alistair.sellar@metoffice.gov.uk::388bc33d-aba4-4717-b205-7fe414dcbcb4" providerId="AD" clId="Web-{205D5CE5-DCDB-8D36-AE37-EB438E06C088}" dt="2025-11-14T12:08:31.006" v="26" actId="20577"/>
        <pc:sldMkLst>
          <pc:docMk/>
          <pc:sldMk cId="313856432" sldId="256"/>
        </pc:sldMkLst>
        <pc:spChg chg="mod">
          <ac:chgData name="Alistair Sellar" userId="S::alistair.sellar@metoffice.gov.uk::388bc33d-aba4-4717-b205-7fe414dcbcb4" providerId="AD" clId="Web-{205D5CE5-DCDB-8D36-AE37-EB438E06C088}" dt="2025-11-14T12:08:31.006" v="26" actId="20577"/>
          <ac:spMkLst>
            <pc:docMk/>
            <pc:sldMk cId="313856432" sldId="256"/>
            <ac:spMk id="3" creationId="{D2415D99-1603-893D-7F28-1318A5B3DCDD}"/>
          </ac:spMkLst>
        </pc:spChg>
      </pc:sldChg>
      <pc:sldChg chg="modSp">
        <pc:chgData name="Alistair Sellar" userId="S::alistair.sellar@metoffice.gov.uk::388bc33d-aba4-4717-b205-7fe414dcbcb4" providerId="AD" clId="Web-{205D5CE5-DCDB-8D36-AE37-EB438E06C088}" dt="2025-11-14T11:03:53.587" v="25" actId="20577"/>
        <pc:sldMkLst>
          <pc:docMk/>
          <pc:sldMk cId="1953850046" sldId="260"/>
        </pc:sldMkLst>
        <pc:spChg chg="mod">
          <ac:chgData name="Alistair Sellar" userId="S::alistair.sellar@metoffice.gov.uk::388bc33d-aba4-4717-b205-7fe414dcbcb4" providerId="AD" clId="Web-{205D5CE5-DCDB-8D36-AE37-EB438E06C088}" dt="2025-11-14T11:02:56.722" v="0" actId="20577"/>
          <ac:spMkLst>
            <pc:docMk/>
            <pc:sldMk cId="1953850046" sldId="260"/>
            <ac:spMk id="2" creationId="{04E90CD5-0C06-40DA-1C76-E4A58EC05A22}"/>
          </ac:spMkLst>
        </pc:spChg>
        <pc:spChg chg="mod">
          <ac:chgData name="Alistair Sellar" userId="S::alistair.sellar@metoffice.gov.uk::388bc33d-aba4-4717-b205-7fe414dcbcb4" providerId="AD" clId="Web-{205D5CE5-DCDB-8D36-AE37-EB438E06C088}" dt="2025-11-14T11:03:53.587" v="25" actId="20577"/>
          <ac:spMkLst>
            <pc:docMk/>
            <pc:sldMk cId="1953850046" sldId="260"/>
            <ac:spMk id="3" creationId="{66DB331B-5182-B60F-AC8F-8AA17EAD8791}"/>
          </ac:spMkLst>
        </pc:spChg>
      </pc:sldChg>
      <pc:sldChg chg="modSp">
        <pc:chgData name="Alistair Sellar" userId="S::alistair.sellar@metoffice.gov.uk::388bc33d-aba4-4717-b205-7fe414dcbcb4" providerId="AD" clId="Web-{205D5CE5-DCDB-8D36-AE37-EB438E06C088}" dt="2025-11-14T12:08:55.162" v="27" actId="20577"/>
        <pc:sldMkLst>
          <pc:docMk/>
          <pc:sldMk cId="2403918211" sldId="503"/>
        </pc:sldMkLst>
        <pc:spChg chg="mod">
          <ac:chgData name="Alistair Sellar" userId="S::alistair.sellar@metoffice.gov.uk::388bc33d-aba4-4717-b205-7fe414dcbcb4" providerId="AD" clId="Web-{205D5CE5-DCDB-8D36-AE37-EB438E06C088}" dt="2025-11-14T12:08:55.162" v="27" actId="20577"/>
          <ac:spMkLst>
            <pc:docMk/>
            <pc:sldMk cId="2403918211" sldId="503"/>
            <ac:spMk id="2" creationId="{C90A8408-E7A1-B03C-8469-0317972B601A}"/>
          </ac:spMkLst>
        </pc:spChg>
      </pc:sldChg>
    </pc:docChg>
  </pc:docChgLst>
  <pc:docChgLst>
    <pc:chgData name="Alistair Sellar" userId="388bc33d-aba4-4717-b205-7fe414dcbcb4" providerId="ADAL" clId="{566DA903-E072-4C06-ADAD-B6E4F9FEDCBB}"/>
    <pc:docChg chg="undo custSel addSld delSld modSld">
      <pc:chgData name="Alistair Sellar" userId="388bc33d-aba4-4717-b205-7fe414dcbcb4" providerId="ADAL" clId="{566DA903-E072-4C06-ADAD-B6E4F9FEDCBB}" dt="2025-11-19T17:13:29.142" v="169" actId="6549"/>
      <pc:docMkLst>
        <pc:docMk/>
      </pc:docMkLst>
      <pc:sldChg chg="modSp mod">
        <pc:chgData name="Alistair Sellar" userId="388bc33d-aba4-4717-b205-7fe414dcbcb4" providerId="ADAL" clId="{566DA903-E072-4C06-ADAD-B6E4F9FEDCBB}" dt="2025-11-19T17:08:57.438" v="109" actId="20577"/>
        <pc:sldMkLst>
          <pc:docMk/>
          <pc:sldMk cId="1953850046" sldId="260"/>
        </pc:sldMkLst>
        <pc:spChg chg="mod">
          <ac:chgData name="Alistair Sellar" userId="388bc33d-aba4-4717-b205-7fe414dcbcb4" providerId="ADAL" clId="{566DA903-E072-4C06-ADAD-B6E4F9FEDCBB}" dt="2025-11-19T17:08:57.438" v="109" actId="20577"/>
          <ac:spMkLst>
            <pc:docMk/>
            <pc:sldMk cId="1953850046" sldId="260"/>
            <ac:spMk id="3" creationId="{66DB331B-5182-B60F-AC8F-8AA17EAD8791}"/>
          </ac:spMkLst>
        </pc:spChg>
      </pc:sldChg>
      <pc:sldChg chg="new del">
        <pc:chgData name="Alistair Sellar" userId="388bc33d-aba4-4717-b205-7fe414dcbcb4" providerId="ADAL" clId="{566DA903-E072-4C06-ADAD-B6E4F9FEDCBB}" dt="2025-11-19T16:48:34.137" v="78" actId="47"/>
        <pc:sldMkLst>
          <pc:docMk/>
          <pc:sldMk cId="3996864392" sldId="504"/>
        </pc:sldMkLst>
      </pc:sldChg>
      <pc:sldChg chg="addSp delSp modSp add mod modAnim">
        <pc:chgData name="Alistair Sellar" userId="388bc33d-aba4-4717-b205-7fe414dcbcb4" providerId="ADAL" clId="{566DA903-E072-4C06-ADAD-B6E4F9FEDCBB}" dt="2025-11-19T17:13:29.142" v="169" actId="6549"/>
        <pc:sldMkLst>
          <pc:docMk/>
          <pc:sldMk cId="2796660753" sldId="505"/>
        </pc:sldMkLst>
        <pc:spChg chg="mo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2" creationId="{4052413C-C8A4-C15F-74D8-A2F26059ECE2}"/>
          </ac:spMkLst>
        </pc:spChg>
        <pc:spChg chg="mod ord">
          <ac:chgData name="Alistair Sellar" userId="388bc33d-aba4-4717-b205-7fe414dcbcb4" providerId="ADAL" clId="{566DA903-E072-4C06-ADAD-B6E4F9FEDCBB}" dt="2025-11-19T17:13:29.142" v="169" actId="6549"/>
          <ac:spMkLst>
            <pc:docMk/>
            <pc:sldMk cId="2796660753" sldId="505"/>
            <ac:spMk id="3" creationId="{9AD71D0D-8BE1-D2CE-06C5-B880E1E67009}"/>
          </ac:spMkLst>
        </pc:spChg>
        <pc:spChg chg="del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51" creationId="{07DF4ECD-BDE5-64A7-9B4B-077886602664}"/>
          </ac:spMkLst>
        </pc:spChg>
        <pc:spChg chg="del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53" creationId="{4BC9058D-DDF3-0768-2C76-32A437427324}"/>
          </ac:spMkLst>
        </pc:spChg>
        <pc:spChg chg="ad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58" creationId="{327D73B4-9F5C-4A64-A179-51B9500CB8B5}"/>
          </ac:spMkLst>
        </pc:spChg>
        <pc:spChg chg="ad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60" creationId="{C1F06963-6374-4B48-844F-071A9BAAAE02}"/>
          </ac:spMkLst>
        </pc:spChg>
        <pc:spChg chg="ad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62" creationId="{6CB927A4-E432-4310-9CD5-E89FF5063179}"/>
          </ac:spMkLst>
        </pc:spChg>
        <pc:spChg chg="ad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64" creationId="{1453BF6C-B012-48B7-B4E8-6D7AC7C27D02}"/>
          </ac:spMkLst>
        </pc:spChg>
        <pc:spChg chg="add">
          <ac:chgData name="Alistair Sellar" userId="388bc33d-aba4-4717-b205-7fe414dcbcb4" providerId="ADAL" clId="{566DA903-E072-4C06-ADAD-B6E4F9FEDCBB}" dt="2025-11-19T17:08:48.568" v="108" actId="26606"/>
          <ac:spMkLst>
            <pc:docMk/>
            <pc:sldMk cId="2796660753" sldId="505"/>
            <ac:spMk id="6166" creationId="{E3020543-B24B-4EC4-8FFC-8DD88EEA91A8}"/>
          </ac:spMkLst>
        </pc:spChg>
        <pc:picChg chg="mod">
          <ac:chgData name="Alistair Sellar" userId="388bc33d-aba4-4717-b205-7fe414dcbcb4" providerId="ADAL" clId="{566DA903-E072-4C06-ADAD-B6E4F9FEDCBB}" dt="2025-11-19T17:08:48.568" v="108" actId="26606"/>
          <ac:picMkLst>
            <pc:docMk/>
            <pc:sldMk cId="2796660753" sldId="505"/>
            <ac:picMk id="6146" creationId="{3E2B3F07-8DDF-20E3-0B39-03BFD22A7A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999D-7346-B94C-4952-6289B835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C8976-2076-4FA8-373B-84D4E9947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A03C-AD88-9009-5314-13A66E93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C7B50-1F5B-3AA5-B7B9-C0709D3C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3C465-6C9A-86E7-9542-3160B306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27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8390-F390-C353-A806-B96D0B2D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CF52-9666-CFD1-FA53-0DB1137A4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534BB-EB4C-1C8D-3EEA-4F98BDE3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380A-62A5-3B7A-F8A3-307D6769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CA116-03FA-F286-5331-A438E158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04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F2BA-03D4-0854-9285-3BAA5F30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DCC7F-4D97-46E6-64B0-06C3E491C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F28FE-92CF-0738-EA94-42023322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3229B-8770-D451-528B-C99E99C9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62A2-BE1F-9C56-D1CE-9671AB45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83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20F1-647A-FE72-E243-E641D328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5E3D-16BC-2044-DE70-B4162E4A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8ADCD-63AF-7063-6C22-C058A51E3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31354-AB28-4034-6766-2FB9ED7B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62AEE-A7E7-C7AE-B694-38CA56E4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9668E-6BB9-A02D-1B69-7F5D0C86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6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85DC-7E40-526B-1913-885249DF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114F-8771-F2E1-729C-7D5CA757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1EC07-C32A-E5DD-AB77-CABEA6A6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5D19-BACD-A0A7-E2DD-F2AC8D71F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7F4B5-1E5F-5E81-D002-84FE143F4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9677E-5E15-D7EC-9789-B9ACE2BF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1B980-C060-ED6B-D378-EAF9B307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D99CF-1D6F-DBCD-2EB2-E630BB98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9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E101-7500-9F17-BC1C-B592B263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D0795-27E8-582E-A3DE-0264F247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937FD-33F8-47FB-05D6-635F7E55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9F146-6632-854A-6DC9-C5D09B62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83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76CAC-F574-5355-31C1-81F6612A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DAA85-93C1-CFEE-E895-B038C48E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EB30-612E-A9FC-46EB-17FB9F86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0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B2B3-D234-AF75-C9F3-24E30B22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ED14-6708-822B-AEF9-6ABC2532B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C4EA6-9CAD-190F-8DC2-1C654AC23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46FFB-B84B-6AE2-7A6E-393A888D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0396B-D759-2949-9488-9E19257B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8B95-DEF3-7861-2D9C-C563338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7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968B-DD60-5ACB-4802-D0CAF3DF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56155-8797-7BE6-E2BB-487152BCD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D2C42-CBE6-9AC8-C599-F3AAFD487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F924F-4B5E-99DA-5A0F-D7423359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27EF0-1442-2FA9-DD55-448283E3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BD5CF-A2EE-BDEC-527D-B96AEA40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2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2E98-2C11-7CBC-482A-00895156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CF250-0211-4256-207C-358EC807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78C8-1D81-FA91-8C40-1D250E0D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4EF2-611D-2627-BEF3-25BF2A95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8673-D245-1B34-E309-F04B3BF4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1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F428F-80AF-2E9B-B2AE-F7FE1A28F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3F017-4A53-04CE-43A2-EDFD6AC7D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952FB-865E-D828-1EDE-A5B922BC6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113-2C74-D66D-BD8B-3609311F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224B3-5A15-F170-5D66-45EE9EF1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96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FFA51D-1093-14E5-F68F-646493EC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CBFE1-DD2D-A9DA-97AB-C40FFF5C6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2C7E-846E-A650-24DE-830A00DF5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FA045-BC2B-42F3-BDA9-2BD7E4E7CE4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CAFFE-1C63-3BEF-07E6-D9A56B059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2104-8338-8904-8AB2-B1D5645D4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69574-75F9-4455-B8AE-20FAD3C9F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15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cs.google.com/document/d/1l87wfUmyQxpKJPF8x1jOX_hcfxkSv0hkgGx2VZO1JOg/edit?usp=shar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l87wfUmyQxpKJPF8x1jOX_hcfxkSv0hkgGx2VZO1JOg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8891-8EC3-CCC6-9882-5C8BD7277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44121"/>
          </a:xfrm>
        </p:spPr>
        <p:txBody>
          <a:bodyPr/>
          <a:lstStyle/>
          <a:p>
            <a:r>
              <a:rPr lang="en-GB" dirty="0"/>
              <a:t>ESMValTool </a:t>
            </a:r>
            <a:br>
              <a:rPr lang="en-GB" dirty="0"/>
            </a:br>
            <a:r>
              <a:rPr lang="en-GB" dirty="0"/>
              <a:t>long-term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15D99-1603-893D-7F28-1318A5B3D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0716" y="593213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400" dirty="0">
                <a:hlinkClick r:id="rId2"/>
              </a:rPr>
              <a:t>Google doc</a:t>
            </a:r>
            <a:r>
              <a:rPr lang="en-GB" sz="4400" dirty="0"/>
              <a:t> </a:t>
            </a:r>
          </a:p>
        </p:txBody>
      </p:sp>
      <p:pic>
        <p:nvPicPr>
          <p:cNvPr id="2050" name="Picture 2" descr="112,100+ Vehicle Trailer Stock Photos, Pictures &amp; Royalty-Free Images -  iStock | Truck, Tractor trailer, Travel trailer">
            <a:extLst>
              <a:ext uri="{FF2B5EF4-FFF2-40B4-BE49-F238E27FC236}">
                <a16:creationId xmlns:a16="http://schemas.microsoft.com/office/drawing/2014/main" id="{158C49AC-BFF9-D227-F5A7-8E5A04E0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117" y="2927701"/>
            <a:ext cx="3752478" cy="300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5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2C7D2-AF1D-9C9F-4238-F5D5B2F2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r>
              <a:rPr lang="en-GB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9069-3B63-B4D4-1A82-B3B7CE7D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110" y="1955774"/>
            <a:ext cx="4110186" cy="4295124"/>
          </a:xfrm>
        </p:spPr>
        <p:txBody>
          <a:bodyPr>
            <a:normAutofit/>
          </a:bodyPr>
          <a:lstStyle/>
          <a:p>
            <a:r>
              <a:rPr lang="en-GB" sz="2400" dirty="0"/>
              <a:t>Resource sustainability: Support and inform long-term funding opportunities</a:t>
            </a:r>
          </a:p>
          <a:p>
            <a:r>
              <a:rPr lang="en-GB" sz="2400" dirty="0"/>
              <a:t>Software sustainability: Build a common vision for ways of working that we want to sustain or evolve towards</a:t>
            </a:r>
          </a:p>
          <a:p>
            <a:r>
              <a:rPr lang="en-GB" sz="2400" dirty="0"/>
              <a:t>Alignment: Build a common vision for future capabilities</a:t>
            </a:r>
          </a:p>
        </p:txBody>
      </p:sp>
      <p:pic>
        <p:nvPicPr>
          <p:cNvPr id="3076" name="Picture 4" descr="Telematics for greater trailer fleet sustainability | TIP Group">
            <a:extLst>
              <a:ext uri="{FF2B5EF4-FFF2-40B4-BE49-F238E27FC236}">
                <a16:creationId xmlns:a16="http://schemas.microsoft.com/office/drawing/2014/main" id="{52505798-75BF-F8FA-B90F-27687FEA2F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6" r="-1" b="2157"/>
          <a:stretch/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,819 Container Truck Top View Royalty-Free Photos and Stock Images |  Shutterstock">
            <a:extLst>
              <a:ext uri="{FF2B5EF4-FFF2-40B4-BE49-F238E27FC236}">
                <a16:creationId xmlns:a16="http://schemas.microsoft.com/office/drawing/2014/main" id="{125DD6BD-B59A-34DB-5552-A5E3FCE74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" b="20944"/>
          <a:stretch/>
        </p:blipFill>
        <p:spPr bwMode="auto"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66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4996-A1EE-4A36-A3F6-ABB89912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72" y="0"/>
            <a:ext cx="8720528" cy="1058941"/>
          </a:xfrm>
        </p:spPr>
        <p:txBody>
          <a:bodyPr/>
          <a:lstStyle/>
          <a:p>
            <a:r>
              <a:rPr lang="en-GB" dirty="0"/>
              <a:t>What (and who) is it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EF2B0-1495-46F1-0C51-829CF203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974" y="1424066"/>
            <a:ext cx="8814216" cy="5068809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ESMValTool consortium partners:</a:t>
            </a:r>
          </a:p>
          <a:p>
            <a:pPr lvl="1"/>
            <a:r>
              <a:rPr lang="en-GB" dirty="0"/>
              <a:t>Build / document a common understanding of our ambitions and helping to align annual work plans with our shared goals.</a:t>
            </a:r>
          </a:p>
          <a:p>
            <a:r>
              <a:rPr lang="en-GB" b="1" dirty="0"/>
              <a:t>ESMValTool stakeholders</a:t>
            </a:r>
            <a:r>
              <a:rPr lang="en-GB" dirty="0"/>
              <a:t>, including user representatives and developers of Earth system modelling research infrastructures:</a:t>
            </a:r>
          </a:p>
          <a:p>
            <a:pPr lvl="1"/>
            <a:r>
              <a:rPr lang="en-GB" dirty="0"/>
              <a:t>How will ESMValTool operate within the wider ecosystem and facilitate the exploitation of Earth observation and model data.</a:t>
            </a:r>
          </a:p>
          <a:p>
            <a:r>
              <a:rPr lang="en-GB" b="1" dirty="0"/>
              <a:t>Funding bodies:</a:t>
            </a:r>
          </a:p>
          <a:p>
            <a:pPr lvl="1"/>
            <a:r>
              <a:rPr lang="en-GB" dirty="0"/>
              <a:t>provide evidence that specific proposals align with a community vision for Earth system model evaluation and analysis.</a:t>
            </a:r>
          </a:p>
        </p:txBody>
      </p:sp>
      <p:pic>
        <p:nvPicPr>
          <p:cNvPr id="4098" name="Picture 2" descr="How to Earn More Money with Your Trailer">
            <a:extLst>
              <a:ext uri="{FF2B5EF4-FFF2-40B4-BE49-F238E27FC236}">
                <a16:creationId xmlns:a16="http://schemas.microsoft.com/office/drawing/2014/main" id="{591900D3-84F5-8A27-D094-6D79FF647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64" b="30721"/>
          <a:stretch/>
        </p:blipFill>
        <p:spPr bwMode="auto">
          <a:xfrm>
            <a:off x="62459" y="5064570"/>
            <a:ext cx="2633272" cy="162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side the battle to boost female trucker numbers amid HGV driver shortage  | ITV News">
            <a:extLst>
              <a:ext uri="{FF2B5EF4-FFF2-40B4-BE49-F238E27FC236}">
                <a16:creationId xmlns:a16="http://schemas.microsoft.com/office/drawing/2014/main" id="{27DBD0AA-AC12-20CC-8850-F57F6297F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" t="8415" r="6311" b="10648"/>
          <a:stretch/>
        </p:blipFill>
        <p:spPr bwMode="auto">
          <a:xfrm>
            <a:off x="0" y="1360119"/>
            <a:ext cx="2758190" cy="141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railer coupling trailer coupling at the car vehicle trailer stock pictures, royalty-free photos &amp; images">
            <a:extLst>
              <a:ext uri="{FF2B5EF4-FFF2-40B4-BE49-F238E27FC236}">
                <a16:creationId xmlns:a16="http://schemas.microsoft.com/office/drawing/2014/main" id="{4A503312-D6E2-3C8A-D5F7-824D8B2B8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23597"/>
            <a:ext cx="2684177" cy="178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19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BD2CE-02A0-22F3-42A4-7D1081EF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212023"/>
          </a:xfrm>
        </p:spPr>
        <p:txBody>
          <a:bodyPr anchor="b">
            <a:normAutofit/>
          </a:bodyPr>
          <a:lstStyle/>
          <a:p>
            <a:r>
              <a:rPr lang="en-GB" sz="5400" dirty="0"/>
              <a:t>It is not…</a:t>
            </a:r>
          </a:p>
        </p:txBody>
      </p:sp>
      <p:sp>
        <p:nvSpPr>
          <p:cNvPr id="513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018F5-0AA1-FE7B-2629-B6B33C62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872899"/>
            <a:ext cx="4368602" cy="3659732"/>
          </a:xfrm>
        </p:spPr>
        <p:txBody>
          <a:bodyPr>
            <a:normAutofit/>
          </a:bodyPr>
          <a:lstStyle/>
          <a:p>
            <a:r>
              <a:rPr lang="en-GB" sz="2000" dirty="0"/>
              <a:t>A development roadmap – it doesn’t spell out which individual developments will be targeted at which release</a:t>
            </a:r>
          </a:p>
          <a:p>
            <a:r>
              <a:rPr lang="en-GB" sz="2000" dirty="0"/>
              <a:t>A plan – it doesn’t say how much effort is needed, who will undertake it &amp; when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↑↑↑↑ These things are also important but should be managed separately and updated more frequently</a:t>
            </a:r>
          </a:p>
        </p:txBody>
      </p:sp>
      <p:pic>
        <p:nvPicPr>
          <p:cNvPr id="5124" name="Picture 4" descr="All You Need to Know When Towing a Caravan | Spinney">
            <a:extLst>
              <a:ext uri="{FF2B5EF4-FFF2-40B4-BE49-F238E27FC236}">
                <a16:creationId xmlns:a16="http://schemas.microsoft.com/office/drawing/2014/main" id="{40809732-D4E7-2BF3-5FC5-AC5A3A0BD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65" r="6881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8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47F0-16F8-BD64-0FE6-3F77F011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it set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6E44-18E6-57AC-84E2-21BCCD949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scientific challenges for Earth system data analysis</a:t>
            </a:r>
          </a:p>
          <a:p>
            <a:r>
              <a:rPr lang="en-GB" dirty="0"/>
              <a:t>Impact on the Earth system community</a:t>
            </a:r>
          </a:p>
          <a:p>
            <a:r>
              <a:rPr lang="en-GB" dirty="0"/>
              <a:t>Software sustainability</a:t>
            </a:r>
          </a:p>
          <a:p>
            <a:r>
              <a:rPr lang="en-GB" dirty="0"/>
              <a:t>New capabilities</a:t>
            </a:r>
          </a:p>
          <a:p>
            <a:pPr lvl="1"/>
            <a:r>
              <a:rPr lang="en-GB" dirty="0"/>
              <a:t>Exascale computing and high-resolution models</a:t>
            </a:r>
          </a:p>
          <a:p>
            <a:pPr lvl="1"/>
            <a:r>
              <a:rPr lang="en-GB" dirty="0"/>
              <a:t>Support for more model and data types</a:t>
            </a:r>
          </a:p>
          <a:p>
            <a:pPr lvl="1"/>
            <a:r>
              <a:rPr lang="en-GB" dirty="0"/>
              <a:t>Optimising exploitation of observations including observational uncertainties</a:t>
            </a:r>
          </a:p>
          <a:p>
            <a:pPr lvl="1"/>
            <a:r>
              <a:rPr lang="en-GB" dirty="0"/>
              <a:t>Support for expansion for artificial intelligence methods in modelling and evaluation</a:t>
            </a:r>
          </a:p>
        </p:txBody>
      </p:sp>
      <p:pic>
        <p:nvPicPr>
          <p:cNvPr id="1026" name="Picture 2" descr="A tractor and its trailer A tractor and its trailer ready for wheat harvests vehicle trailer stock pictures, royalty-free photos &amp; images">
            <a:extLst>
              <a:ext uri="{FF2B5EF4-FFF2-40B4-BE49-F238E27FC236}">
                <a16:creationId xmlns:a16="http://schemas.microsoft.com/office/drawing/2014/main" id="{E71F3B87-0CE9-F2E5-3AEA-A2D693938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446" y="2363406"/>
            <a:ext cx="3169354" cy="211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8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90CD5-0C06-40DA-1C76-E4A58EC0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dirty="0"/>
              <a:t>Discussion</a:t>
            </a:r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331B-5182-B60F-AC8F-8AA17EAD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 dirty="0"/>
              <a:t>Any questions on what it's for?</a:t>
            </a:r>
          </a:p>
          <a:p>
            <a:r>
              <a:rPr lang="en-GB" sz="2200" dirty="0"/>
              <a:t>Start with comments in doc</a:t>
            </a:r>
            <a:endParaRPr lang="en-GB" dirty="0"/>
          </a:p>
          <a:p>
            <a:r>
              <a:rPr lang="en-GB" sz="2200" dirty="0"/>
              <a:t>Questions?</a:t>
            </a:r>
          </a:p>
        </p:txBody>
      </p:sp>
      <p:pic>
        <p:nvPicPr>
          <p:cNvPr id="6146" name="Picture 2" descr="Camper, Caravan, RV &amp; Motorhome Icons Camper, Caravan, RV &amp; Motorhome Icons. Layered &amp; grouped for ease of use. Download includes EPS 8, EPS 10 and high resolution JPEG &amp; PNG files. vehicle trailer stock illustrations">
            <a:extLst>
              <a:ext uri="{FF2B5EF4-FFF2-40B4-BE49-F238E27FC236}">
                <a16:creationId xmlns:a16="http://schemas.microsoft.com/office/drawing/2014/main" id="{C426EBBE-D6E6-BB68-0ACC-AB4B30B3F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5" r="1" b="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85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3D135-34B2-ACC9-0EF7-B0AE7DC8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2413C-C8A4-C15F-74D8-A2F26059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GB" sz="4300"/>
              <a:t>Do we want a vision/purpose statement?</a:t>
            </a:r>
          </a:p>
        </p:txBody>
      </p:sp>
      <p:sp>
        <p:nvSpPr>
          <p:cNvPr id="6160" name="Oval 615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Camper, Caravan, RV &amp; Motorhome Icons Camper, Caravan, RV &amp; Motorhome Icons. Layered &amp; grouped for ease of use. Download includes EPS 8, EPS 10 and high resolution JPEG &amp; PNG files. vehicle trailer stock illustrations">
            <a:extLst>
              <a:ext uri="{FF2B5EF4-FFF2-40B4-BE49-F238E27FC236}">
                <a16:creationId xmlns:a16="http://schemas.microsoft.com/office/drawing/2014/main" id="{3E2B3F07-8DDF-20E3-0B39-03BFD22A7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"/>
          <a:stretch>
            <a:fillRect/>
          </a:stretch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2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64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71D0D-8BE1-D2CE-06C5-B880E1E67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Key goals to emphasise in a pithy statement:</a:t>
            </a:r>
          </a:p>
          <a:p>
            <a:pPr lvl="0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Flexible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Powerful (pre-)processing</a:t>
            </a:r>
          </a:p>
          <a:p>
            <a:pPr lvl="0"/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Important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metrics</a:t>
            </a:r>
          </a:p>
          <a:p>
            <a:pPr lvl="0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???</a:t>
            </a:r>
          </a:p>
        </p:txBody>
      </p:sp>
      <p:sp>
        <p:nvSpPr>
          <p:cNvPr id="6166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168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66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A8408-E7A1-B03C-8469-0317972B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Please add your comments to the </a:t>
            </a:r>
            <a:r>
              <a:rPr lang="en-GB" sz="4400">
                <a:hlinkClick r:id="rId2"/>
              </a:rPr>
              <a:t>Google doc</a:t>
            </a:r>
            <a:r>
              <a:rPr lang="en-GB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04D89-C578-2662-CDEB-2EEFE6BD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91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4539</TotalTime>
  <Words>291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ESMValTool  long-term strategy</vt:lpstr>
      <vt:lpstr>Why?</vt:lpstr>
      <vt:lpstr>What (and who) is it for?</vt:lpstr>
      <vt:lpstr>It is not…</vt:lpstr>
      <vt:lpstr>What does it set out</vt:lpstr>
      <vt:lpstr>Discussion</vt:lpstr>
      <vt:lpstr>Do we want a vision/purpose statement?</vt:lpstr>
      <vt:lpstr>Please add your comments to the Google doc  </vt:lpstr>
    </vt:vector>
  </TitlesOfParts>
  <Company>Met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Alistair Sellar</dc:creator>
  <cp:lastModifiedBy>Alistair Sellar</cp:lastModifiedBy>
  <cp:revision>16</cp:revision>
  <dcterms:created xsi:type="dcterms:W3CDTF">2024-05-25T05:55:14Z</dcterms:created>
  <dcterms:modified xsi:type="dcterms:W3CDTF">2025-11-19T17:13:32Z</dcterms:modified>
</cp:coreProperties>
</file>